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872a8524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1445900" y="1003100"/>
            <a:ext cx="6598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1125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FFFFFF"/>
                </a:solidFill>
              </a:rPr>
              <a:t>Каталог товаров - CRUD-приложение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571500" y="381000"/>
            <a:ext cx="4090226" cy="502593"/>
          </a:xfrm>
          <a:prstGeom prst="rect">
            <a:avLst/>
          </a:prstGeom>
          <a:noFill/>
          <a:ln>
            <a:noFill/>
          </a:ln>
        </p:spPr>
        <p:txBody>
          <a:bodyPr anchorCtr="0" anchor="t" bIns="1428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8"/>
              </a:lnSpc>
              <a:spcBef>
                <a:spcPts val="0"/>
              </a:spcBef>
              <a:spcAft>
                <a:spcPts val="0"/>
              </a:spcAft>
              <a:buClr>
                <a:srgbClr val="7C4DFF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7C4DFF"/>
                </a:solidFill>
              </a:rPr>
              <a:t>Цель и требования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71500" y="1197918"/>
            <a:ext cx="8001000" cy="2146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9050" spcFirstLastPara="1" rIns="0" wrap="square" tIns="0">
            <a:noAutofit/>
          </a:bodyPr>
          <a:lstStyle/>
          <a:p>
            <a:pPr indent="0" lvl="0" marL="0" rtl="0" algn="l">
              <a:lnSpc>
                <a:spcPct val="155555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1A1A1A"/>
                </a:solidFill>
              </a:rPr>
              <a:t>Цель: CRUD-приложение для управления товарами интернет-магазина</a:t>
            </a:r>
            <a:endParaRPr sz="1350">
              <a:solidFill>
                <a:srgbClr val="1A1A1A"/>
              </a:solidFill>
            </a:endParaRPr>
          </a:p>
          <a:p>
            <a:pPr indent="0" lvl="0" marL="0" rtl="0" algn="l">
              <a:lnSpc>
                <a:spcPct val="155555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1A1A1A"/>
                </a:solidFill>
              </a:rPr>
              <a:t>Требования: создание, чтение, обновление, удаление сущностей	</a:t>
            </a:r>
            <a:endParaRPr sz="135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571500" y="381000"/>
            <a:ext cx="4177665" cy="502593"/>
          </a:xfrm>
          <a:prstGeom prst="rect">
            <a:avLst/>
          </a:prstGeom>
          <a:noFill/>
          <a:ln>
            <a:noFill/>
          </a:ln>
        </p:spPr>
        <p:txBody>
          <a:bodyPr anchorCtr="0" anchor="t" bIns="1428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8"/>
              </a:lnSpc>
              <a:spcBef>
                <a:spcPts val="0"/>
              </a:spcBef>
              <a:spcAft>
                <a:spcPts val="0"/>
              </a:spcAft>
              <a:buClr>
                <a:srgbClr val="7C4D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7C4DFF"/>
                </a:solidFill>
                <a:latin typeface="Arial"/>
                <a:ea typeface="Arial"/>
                <a:cs typeface="Arial"/>
                <a:sym typeface="Arial"/>
              </a:rPr>
              <a:t>Архитектура приложения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311525" y="1079925"/>
            <a:ext cx="7192500" cy="23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9050" spcFirstLastPara="1" rIns="0" wrap="square" tIns="0">
            <a:noAutofit/>
          </a:bodyPr>
          <a:lstStyle/>
          <a:p>
            <a:pPr indent="-314325" lvl="0" marL="457200" rtl="0" algn="l">
              <a:lnSpc>
                <a:spcPct val="155555"/>
              </a:lnSpc>
              <a:spcBef>
                <a:spcPts val="450"/>
              </a:spcBef>
              <a:spcAft>
                <a:spcPts val="0"/>
              </a:spcAft>
              <a:buClr>
                <a:srgbClr val="1A1A1A"/>
              </a:buClr>
              <a:buSzPts val="1350"/>
              <a:buChar char="•"/>
            </a:pPr>
            <a:r>
              <a:rPr lang="en-US" sz="1350">
                <a:solidFill>
                  <a:srgbClr val="1A1A1A"/>
                </a:solidFill>
              </a:rPr>
              <a:t>C# / .NET 10 / ASP.NET Core MVC</a:t>
            </a:r>
            <a:endParaRPr sz="1350">
              <a:solidFill>
                <a:srgbClr val="1A1A1A"/>
              </a:solidFill>
            </a:endParaRPr>
          </a:p>
          <a:p>
            <a:pPr indent="-314325" lvl="0" marL="457200" rtl="0" algn="l">
              <a:lnSpc>
                <a:spcPct val="155555"/>
              </a:lnSpc>
              <a:spcBef>
                <a:spcPts val="450"/>
              </a:spcBef>
              <a:spcAft>
                <a:spcPts val="0"/>
              </a:spcAft>
              <a:buClr>
                <a:srgbClr val="1A1A1A"/>
              </a:buClr>
              <a:buSzPts val="1350"/>
              <a:buChar char="•"/>
            </a:pPr>
            <a:r>
              <a:rPr lang="en-US" sz="1350">
                <a:solidFill>
                  <a:srgbClr val="1A1A1A"/>
                </a:solidFill>
              </a:rPr>
              <a:t>SQLite + Entity Framework Core</a:t>
            </a:r>
            <a:endParaRPr sz="1350">
              <a:solidFill>
                <a:srgbClr val="1A1A1A"/>
              </a:solidFill>
            </a:endParaRPr>
          </a:p>
          <a:p>
            <a:pPr indent="-314325" lvl="0" marL="457200" rtl="0" algn="l">
              <a:lnSpc>
                <a:spcPct val="155555"/>
              </a:lnSpc>
              <a:spcBef>
                <a:spcPts val="450"/>
              </a:spcBef>
              <a:spcAft>
                <a:spcPts val="0"/>
              </a:spcAft>
              <a:buClr>
                <a:srgbClr val="1A1A1A"/>
              </a:buClr>
              <a:buSzPts val="1350"/>
              <a:buChar char="•"/>
            </a:pPr>
            <a:r>
              <a:rPr lang="en-US" sz="1350">
                <a:solidFill>
                  <a:srgbClr val="1A1A1A"/>
                </a:solidFill>
              </a:rPr>
              <a:t>Bootstrap 5 (UI)</a:t>
            </a:r>
            <a:endParaRPr sz="1350">
              <a:solidFill>
                <a:srgbClr val="1A1A1A"/>
              </a:solidFill>
            </a:endParaRPr>
          </a:p>
          <a:p>
            <a:pPr indent="-314325" lvl="0" marL="457200" rtl="0" algn="l">
              <a:lnSpc>
                <a:spcPct val="155555"/>
              </a:lnSpc>
              <a:spcBef>
                <a:spcPts val="450"/>
              </a:spcBef>
              <a:spcAft>
                <a:spcPts val="0"/>
              </a:spcAft>
              <a:buClr>
                <a:srgbClr val="1A1A1A"/>
              </a:buClr>
              <a:buSzPts val="1350"/>
              <a:buChar char="•"/>
            </a:pPr>
            <a:r>
              <a:rPr lang="en-US" sz="1350">
                <a:solidFill>
                  <a:srgbClr val="1A1A1A"/>
                </a:solidFill>
              </a:rPr>
              <a:t>Serilog (логирование)</a:t>
            </a:r>
            <a:endParaRPr sz="1350">
              <a:solidFill>
                <a:srgbClr val="1A1A1A"/>
              </a:solidFill>
            </a:endParaRPr>
          </a:p>
          <a:p>
            <a:pPr indent="-314325" lvl="0" marL="457200" rtl="0" algn="l">
              <a:lnSpc>
                <a:spcPct val="155555"/>
              </a:lnSpc>
              <a:spcBef>
                <a:spcPts val="450"/>
              </a:spcBef>
              <a:spcAft>
                <a:spcPts val="0"/>
              </a:spcAft>
              <a:buClr>
                <a:srgbClr val="1A1A1A"/>
              </a:buClr>
              <a:buSzPts val="1350"/>
              <a:buChar char="•"/>
            </a:pPr>
            <a:r>
              <a:rPr lang="en-US" sz="1350">
                <a:solidFill>
                  <a:srgbClr val="1A1A1A"/>
                </a:solidFill>
              </a:rPr>
              <a:t>xUnit + Moq (тестирование)</a:t>
            </a:r>
            <a:endParaRPr sz="1350">
              <a:solidFill>
                <a:srgbClr val="1A1A1A"/>
              </a:solidFill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1A1A1A"/>
              </a:solidFill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571500" y="3750618"/>
            <a:ext cx="8001000" cy="585788"/>
          </a:xfrm>
          <a:prstGeom prst="roundRect">
            <a:avLst>
              <a:gd fmla="val 6504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5"/>
          <p:cNvCxnSpPr/>
          <p:nvPr/>
        </p:nvCxnSpPr>
        <p:spPr>
          <a:xfrm>
            <a:off x="590550" y="3750618"/>
            <a:ext cx="0" cy="585788"/>
          </a:xfrm>
          <a:prstGeom prst="straightConnector1">
            <a:avLst/>
          </a:prstGeom>
          <a:noFill/>
          <a:ln cap="flat" cmpd="sng" w="38100">
            <a:solidFill>
              <a:srgbClr val="7C4D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5"/>
          <p:cNvSpPr/>
          <p:nvPr/>
        </p:nvSpPr>
        <p:spPr>
          <a:xfrm>
            <a:off x="781050" y="3922068"/>
            <a:ext cx="7772400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39"/>
              </a:lnSpc>
              <a:spcBef>
                <a:spcPts val="0"/>
              </a:spcBef>
              <a:spcAft>
                <a:spcPts val="0"/>
              </a:spcAft>
              <a:buClr>
                <a:srgbClr val="7C4DFF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7C4DFF"/>
                </a:solidFill>
              </a:rPr>
              <a:t>Обоснование</a:t>
            </a:r>
            <a:r>
              <a:rPr b="1" i="0" lang="en-US" sz="1275" u="none" cap="none" strike="noStrike">
                <a:solidFill>
                  <a:srgbClr val="7C4D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127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>
                <a:solidFill>
                  <a:srgbClr val="1A1A1A"/>
                </a:solidFill>
              </a:rPr>
              <a:t>кроссплатформенность, зрелость фреймворка, простота развёртывания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571500" y="381000"/>
            <a:ext cx="4090226" cy="502593"/>
          </a:xfrm>
          <a:prstGeom prst="rect">
            <a:avLst/>
          </a:prstGeom>
          <a:noFill/>
          <a:ln>
            <a:noFill/>
          </a:ln>
        </p:spPr>
        <p:txBody>
          <a:bodyPr anchorCtr="0" anchor="t" bIns="1428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8"/>
              </a:lnSpc>
              <a:spcBef>
                <a:spcPts val="0"/>
              </a:spcBef>
              <a:spcAft>
                <a:spcPts val="0"/>
              </a:spcAft>
              <a:buClr>
                <a:srgbClr val="7C4DFF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7C4DFF"/>
                </a:solidFill>
              </a:rPr>
              <a:t>Архитектура решения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p6" title="Снимок экрана от 2026-02-11 23-52-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6888" y="838525"/>
            <a:ext cx="5010226" cy="41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571500" y="381000"/>
            <a:ext cx="4712017" cy="502593"/>
          </a:xfrm>
          <a:prstGeom prst="rect">
            <a:avLst/>
          </a:prstGeom>
          <a:noFill/>
          <a:ln>
            <a:noFill/>
          </a:ln>
        </p:spPr>
        <p:txBody>
          <a:bodyPr anchorCtr="0" anchor="t" bIns="1428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8"/>
              </a:lnSpc>
              <a:spcBef>
                <a:spcPts val="0"/>
              </a:spcBef>
              <a:spcAft>
                <a:spcPts val="0"/>
              </a:spcAft>
              <a:buClr>
                <a:srgbClr val="7C4DFF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7C4DFF"/>
                </a:solidFill>
              </a:rPr>
              <a:t>База данных 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7" title="Снимок экрана от 2026-02-11 23-53-32.png"/>
          <p:cNvPicPr preferRelativeResize="0"/>
          <p:nvPr/>
        </p:nvPicPr>
        <p:blipFill rotWithShape="1">
          <a:blip r:embed="rId3">
            <a:alphaModFix/>
          </a:blip>
          <a:srcRect b="12492" l="2877" r="4004" t="4443"/>
          <a:stretch/>
        </p:blipFill>
        <p:spPr>
          <a:xfrm>
            <a:off x="263050" y="2720575"/>
            <a:ext cx="8514824" cy="105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/>
          <p:nvPr/>
        </p:nvSpPr>
        <p:spPr>
          <a:xfrm>
            <a:off x="571500" y="381000"/>
            <a:ext cx="57282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28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8"/>
              </a:lnSpc>
              <a:spcBef>
                <a:spcPts val="0"/>
              </a:spcBef>
              <a:spcAft>
                <a:spcPts val="0"/>
              </a:spcAft>
              <a:buClr>
                <a:srgbClr val="7C4DFF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7C4DFF"/>
                </a:solidFill>
              </a:rPr>
              <a:t>Потоки данных между модулями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8" title="Снимок экрана от 2026-02-11 23-53-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35900"/>
            <a:ext cx="8839200" cy="2861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/>
          <p:nvPr/>
        </p:nvSpPr>
        <p:spPr>
          <a:xfrm>
            <a:off x="606100" y="76400"/>
            <a:ext cx="49548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28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8"/>
              </a:lnSpc>
              <a:spcBef>
                <a:spcPts val="0"/>
              </a:spcBef>
              <a:spcAft>
                <a:spcPts val="0"/>
              </a:spcAft>
              <a:buClr>
                <a:srgbClr val="7C4DFF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7C4DFF"/>
                </a:solidFill>
              </a:rPr>
              <a:t>Блок схема приложения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9" title="Снимок экрана от 2026-02-11 23-58-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5263" y="491775"/>
            <a:ext cx="5593475" cy="445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/>
          <p:nvPr/>
        </p:nvSpPr>
        <p:spPr>
          <a:xfrm>
            <a:off x="571500" y="381000"/>
            <a:ext cx="4090226" cy="502593"/>
          </a:xfrm>
          <a:prstGeom prst="rect">
            <a:avLst/>
          </a:prstGeom>
          <a:noFill/>
          <a:ln>
            <a:noFill/>
          </a:ln>
        </p:spPr>
        <p:txBody>
          <a:bodyPr anchorCtr="0" anchor="t" bIns="1428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8"/>
              </a:lnSpc>
              <a:spcBef>
                <a:spcPts val="0"/>
              </a:spcBef>
              <a:spcAft>
                <a:spcPts val="0"/>
              </a:spcAft>
              <a:buClr>
                <a:srgbClr val="7C4DFF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7C4DFF"/>
                </a:solidFill>
              </a:rPr>
              <a:t>Используемые подходы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10" title="Снимок экрана от 2026-02-11 23-54-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71570"/>
            <a:ext cx="9144000" cy="1299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/>
          <p:nvPr/>
        </p:nvSpPr>
        <p:spPr>
          <a:xfrm>
            <a:off x="571500" y="381000"/>
            <a:ext cx="4090226" cy="502593"/>
          </a:xfrm>
          <a:prstGeom prst="rect">
            <a:avLst/>
          </a:prstGeom>
          <a:noFill/>
          <a:ln>
            <a:noFill/>
          </a:ln>
        </p:spPr>
        <p:txBody>
          <a:bodyPr anchorCtr="0" anchor="t" bIns="1428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8"/>
              </a:lnSpc>
              <a:spcBef>
                <a:spcPts val="0"/>
              </a:spcBef>
              <a:spcAft>
                <a:spcPts val="0"/>
              </a:spcAft>
              <a:buClr>
                <a:srgbClr val="7C4D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7C4DFF"/>
                </a:solidFill>
                <a:latin typeface="Arial"/>
                <a:ea typeface="Arial"/>
                <a:cs typeface="Arial"/>
                <a:sym typeface="Arial"/>
              </a:rPr>
              <a:t>Результаты разработки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1"/>
          <p:cNvSpPr/>
          <p:nvPr/>
        </p:nvSpPr>
        <p:spPr>
          <a:xfrm>
            <a:off x="571500" y="1197918"/>
            <a:ext cx="80010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9050" spcFirstLastPara="1" rIns="0" wrap="square" tIns="0">
            <a:noAutofit/>
          </a:bodyPr>
          <a:lstStyle/>
          <a:p>
            <a:pPr indent="0" lvl="0" marL="0" rtl="0" algn="l">
              <a:lnSpc>
                <a:spcPct val="155555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1A"/>
                </a:solidFill>
              </a:rPr>
              <a:t>- Реализован полный CRUD с валидацией</a:t>
            </a:r>
            <a:endParaRPr sz="1350">
              <a:solidFill>
                <a:srgbClr val="1A1A1A"/>
              </a:solidFill>
            </a:endParaRPr>
          </a:p>
          <a:p>
            <a:pPr indent="0" lvl="0" marL="0" rtl="0" algn="l">
              <a:lnSpc>
                <a:spcPct val="155555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1A"/>
                </a:solidFill>
              </a:rPr>
              <a:t>- Поиск, фильтрация, сортировка, пагинация</a:t>
            </a:r>
            <a:endParaRPr sz="1350">
              <a:solidFill>
                <a:srgbClr val="1A1A1A"/>
              </a:solidFill>
            </a:endParaRPr>
          </a:p>
          <a:p>
            <a:pPr indent="0" lvl="0" marL="0" rtl="0" algn="l">
              <a:lnSpc>
                <a:spcPct val="155555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1A"/>
                </a:solidFill>
              </a:rPr>
              <a:t>- 40 тестов, покрытие &gt; 80%</a:t>
            </a:r>
            <a:endParaRPr sz="1350">
              <a:solidFill>
                <a:srgbClr val="1A1A1A"/>
              </a:solidFill>
            </a:endParaRPr>
          </a:p>
          <a:p>
            <a:pPr indent="0" lvl="0" marL="0" rtl="0" algn="l">
              <a:lnSpc>
                <a:spcPct val="155555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1A"/>
                </a:solidFill>
              </a:rPr>
              <a:t>- Логирование (консоль + файл)</a:t>
            </a:r>
            <a:endParaRPr sz="1350">
              <a:solidFill>
                <a:srgbClr val="1A1A1A"/>
              </a:solidFill>
            </a:endParaRPr>
          </a:p>
          <a:p>
            <a:pPr indent="0" lvl="0" marL="0" rtl="0" algn="l">
              <a:lnSpc>
                <a:spcPct val="155555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1A"/>
                </a:solidFill>
              </a:rPr>
              <a:t>- Документация оформлена</a:t>
            </a:r>
            <a:endParaRPr sz="1350">
              <a:solidFill>
                <a:srgbClr val="1A1A1A"/>
              </a:solidFill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1A"/>
                </a:solidFill>
              </a:rPr>
              <a:t>- Код на GitHub</a:t>
            </a:r>
            <a:endParaRPr sz="135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